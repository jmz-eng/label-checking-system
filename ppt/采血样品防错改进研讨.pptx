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4" r:id="rId3"/>
    <p:sldId id="257" r:id="rId4"/>
    <p:sldId id="258" r:id="rId6"/>
    <p:sldId id="259" r:id="rId7"/>
    <p:sldId id="260" r:id="rId8"/>
    <p:sldId id="261" r:id="rId9"/>
    <p:sldId id="262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29618" initials="2" lastIdx="0" clrIdx="0"/>
  <p:cmAuthor id="2" name="殷璇" initials="殷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lum bright="-18000"/>
          </a:blip>
          <a:srcRect t="19694" b="20120"/>
          <a:stretch>
            <a:fillRect/>
          </a:stretch>
        </p:blipFill>
        <p:spPr>
          <a:xfrm>
            <a:off x="0" y="1504950"/>
            <a:ext cx="12192000" cy="3973830"/>
          </a:xfrm>
          <a:prstGeom prst="rect">
            <a:avLst/>
          </a:prstGeom>
        </p:spPr>
      </p:pic>
      <p:sp>
        <p:nvSpPr>
          <p:cNvPr id="19" name="矩形 18"/>
          <p:cNvSpPr/>
          <p:nvPr userDrawn="1">
            <p:custDataLst>
              <p:tags r:id="rId4"/>
            </p:custDataLst>
          </p:nvPr>
        </p:nvSpPr>
        <p:spPr>
          <a:xfrm>
            <a:off x="1521460" y="1512570"/>
            <a:ext cx="10670540" cy="3974465"/>
          </a:xfrm>
          <a:custGeom>
            <a:avLst/>
            <a:gdLst>
              <a:gd name="connsiteX0" fmla="*/ 0 w 5472608"/>
              <a:gd name="connsiteY0" fmla="*/ 0 h 2906963"/>
              <a:gd name="connsiteX1" fmla="*/ 5472608 w 5472608"/>
              <a:gd name="connsiteY1" fmla="*/ 0 h 2906963"/>
              <a:gd name="connsiteX2" fmla="*/ 5472608 w 5472608"/>
              <a:gd name="connsiteY2" fmla="*/ 2906963 h 2906963"/>
              <a:gd name="connsiteX3" fmla="*/ 0 w 5472608"/>
              <a:gd name="connsiteY3" fmla="*/ 2906963 h 2906963"/>
              <a:gd name="connsiteX4" fmla="*/ 0 w 5472608"/>
              <a:gd name="connsiteY4" fmla="*/ 0 h 2906963"/>
              <a:gd name="connsiteX0-1" fmla="*/ 1083213 w 6555821"/>
              <a:gd name="connsiteY0-2" fmla="*/ 0 h 2906963"/>
              <a:gd name="connsiteX1-3" fmla="*/ 6555821 w 6555821"/>
              <a:gd name="connsiteY1-4" fmla="*/ 0 h 2906963"/>
              <a:gd name="connsiteX2-5" fmla="*/ 6555821 w 6555821"/>
              <a:gd name="connsiteY2-6" fmla="*/ 2906963 h 2906963"/>
              <a:gd name="connsiteX3-7" fmla="*/ 0 w 6555821"/>
              <a:gd name="connsiteY3-8" fmla="*/ 2892895 h 2906963"/>
              <a:gd name="connsiteX4-9" fmla="*/ 1083213 w 6555821"/>
              <a:gd name="connsiteY4-10" fmla="*/ 0 h 29069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555821" h="2906963">
                <a:moveTo>
                  <a:pt x="1083213" y="0"/>
                </a:moveTo>
                <a:lnTo>
                  <a:pt x="6555821" y="0"/>
                </a:lnTo>
                <a:lnTo>
                  <a:pt x="6555821" y="2906963"/>
                </a:lnTo>
                <a:lnTo>
                  <a:pt x="0" y="2892895"/>
                </a:lnTo>
                <a:lnTo>
                  <a:pt x="1083213" y="0"/>
                </a:lnTo>
                <a:close/>
              </a:path>
            </a:pathLst>
          </a:custGeom>
          <a:solidFill>
            <a:srgbClr val="007BC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8" name="平行四边形 25"/>
          <p:cNvSpPr/>
          <p:nvPr userDrawn="1">
            <p:custDataLst>
              <p:tags r:id="rId5"/>
            </p:custDataLst>
          </p:nvPr>
        </p:nvSpPr>
        <p:spPr>
          <a:xfrm>
            <a:off x="9950450" y="5614035"/>
            <a:ext cx="2329815" cy="300355"/>
          </a:xfrm>
          <a:custGeom>
            <a:avLst/>
            <a:gdLst>
              <a:gd name="connsiteX0" fmla="*/ 0 w 5256584"/>
              <a:gd name="connsiteY0" fmla="*/ 288032 h 288032"/>
              <a:gd name="connsiteX1" fmla="*/ 72008 w 5256584"/>
              <a:gd name="connsiteY1" fmla="*/ 0 h 288032"/>
              <a:gd name="connsiteX2" fmla="*/ 5256584 w 5256584"/>
              <a:gd name="connsiteY2" fmla="*/ 0 h 288032"/>
              <a:gd name="connsiteX3" fmla="*/ 5184576 w 5256584"/>
              <a:gd name="connsiteY3" fmla="*/ 288032 h 288032"/>
              <a:gd name="connsiteX4" fmla="*/ 0 w 5256584"/>
              <a:gd name="connsiteY4" fmla="*/ 288032 h 288032"/>
              <a:gd name="connsiteX0-1" fmla="*/ 0 w 5256584"/>
              <a:gd name="connsiteY0-2" fmla="*/ 288032 h 288032"/>
              <a:gd name="connsiteX1-3" fmla="*/ 108879 w 5256584"/>
              <a:gd name="connsiteY1-4" fmla="*/ 0 h 288032"/>
              <a:gd name="connsiteX2-5" fmla="*/ 5256584 w 5256584"/>
              <a:gd name="connsiteY2-6" fmla="*/ 0 h 288032"/>
              <a:gd name="connsiteX3-7" fmla="*/ 5184576 w 5256584"/>
              <a:gd name="connsiteY3-8" fmla="*/ 288032 h 288032"/>
              <a:gd name="connsiteX4-9" fmla="*/ 0 w 5256584"/>
              <a:gd name="connsiteY4-10" fmla="*/ 288032 h 2880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256584" h="288032">
                <a:moveTo>
                  <a:pt x="0" y="288032"/>
                </a:moveTo>
                <a:lnTo>
                  <a:pt x="108879" y="0"/>
                </a:lnTo>
                <a:lnTo>
                  <a:pt x="5256584" y="0"/>
                </a:lnTo>
                <a:lnTo>
                  <a:pt x="5184576" y="288032"/>
                </a:lnTo>
                <a:lnTo>
                  <a:pt x="0" y="288032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4" name="矩形 23"/>
          <p:cNvSpPr/>
          <p:nvPr userDrawn="1">
            <p:custDataLst>
              <p:tags r:id="rId6"/>
            </p:custDataLst>
          </p:nvPr>
        </p:nvSpPr>
        <p:spPr>
          <a:xfrm rot="1245672">
            <a:off x="2342515" y="881380"/>
            <a:ext cx="230505" cy="4888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7" name="平行四边形 25"/>
          <p:cNvSpPr/>
          <p:nvPr userDrawn="1">
            <p:custDataLst>
              <p:tags r:id="rId7"/>
            </p:custDataLst>
          </p:nvPr>
        </p:nvSpPr>
        <p:spPr>
          <a:xfrm rot="10800000">
            <a:off x="-651510" y="5615305"/>
            <a:ext cx="5368925" cy="299085"/>
          </a:xfrm>
          <a:custGeom>
            <a:avLst/>
            <a:gdLst>
              <a:gd name="connsiteX0" fmla="*/ 0 w 5256584"/>
              <a:gd name="connsiteY0" fmla="*/ 288032 h 288032"/>
              <a:gd name="connsiteX1" fmla="*/ 72008 w 5256584"/>
              <a:gd name="connsiteY1" fmla="*/ 0 h 288032"/>
              <a:gd name="connsiteX2" fmla="*/ 5256584 w 5256584"/>
              <a:gd name="connsiteY2" fmla="*/ 0 h 288032"/>
              <a:gd name="connsiteX3" fmla="*/ 5184576 w 5256584"/>
              <a:gd name="connsiteY3" fmla="*/ 288032 h 288032"/>
              <a:gd name="connsiteX4" fmla="*/ 0 w 5256584"/>
              <a:gd name="connsiteY4" fmla="*/ 288032 h 288032"/>
              <a:gd name="connsiteX0-1" fmla="*/ 0 w 5256584"/>
              <a:gd name="connsiteY0-2" fmla="*/ 288032 h 288032"/>
              <a:gd name="connsiteX1-3" fmla="*/ 108879 w 5256584"/>
              <a:gd name="connsiteY1-4" fmla="*/ 0 h 288032"/>
              <a:gd name="connsiteX2-5" fmla="*/ 5256584 w 5256584"/>
              <a:gd name="connsiteY2-6" fmla="*/ 0 h 288032"/>
              <a:gd name="connsiteX3-7" fmla="*/ 5184576 w 5256584"/>
              <a:gd name="connsiteY3-8" fmla="*/ 288032 h 288032"/>
              <a:gd name="connsiteX4-9" fmla="*/ 0 w 5256584"/>
              <a:gd name="connsiteY4-10" fmla="*/ 288032 h 28803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256584" h="288032">
                <a:moveTo>
                  <a:pt x="0" y="288032"/>
                </a:moveTo>
                <a:lnTo>
                  <a:pt x="108879" y="0"/>
                </a:lnTo>
                <a:lnTo>
                  <a:pt x="5256584" y="0"/>
                </a:lnTo>
                <a:lnTo>
                  <a:pt x="5184576" y="288032"/>
                </a:lnTo>
                <a:lnTo>
                  <a:pt x="0" y="288032"/>
                </a:lnTo>
                <a:close/>
              </a:path>
            </a:pathLst>
          </a:custGeom>
          <a:solidFill>
            <a:schemeClr val="bg1">
              <a:lumMod val="85000"/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805363" y="5613400"/>
            <a:ext cx="5145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2pPr marL="457200" indent="-457200">
              <a:buNone/>
              <a:defRPr kumimoji="0" lang="zh-CN" altLang="en-US" sz="2000" b="1" i="0" u="none" strike="noStrike" kern="1200" cap="none" spc="0" normalizeH="0" baseline="0" dirty="0">
                <a:ln>
                  <a:noFill/>
                </a:ln>
                <a:solidFill>
                  <a:srgbClr val="007BC6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defRPr>
            </a:lvl2pPr>
          </a:lstStyle>
          <a:p>
            <a:pPr marL="457200" lvl="1"/>
            <a:r>
              <a:rPr lang="zh-CN" altLang="en-US" dirty="0"/>
              <a:t>请填写公司名称</a:t>
            </a:r>
            <a:endParaRPr lang="zh-CN" altLang="en-US" dirty="0"/>
          </a:p>
        </p:txBody>
      </p:sp>
      <p:pic>
        <p:nvPicPr>
          <p:cNvPr id="2" name="图片 1" descr="upload_post_object_v2_33221873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396" y="398105"/>
            <a:ext cx="2239285" cy="7721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0"/>
    </mc:Choice>
    <mc:Fallback>
      <p:transition spd="slow"/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>
            <p:custDataLst>
              <p:tags r:id="rId1"/>
            </p:custDataLst>
          </p:nvPr>
        </p:nvSpPr>
        <p:spPr>
          <a:xfrm>
            <a:off x="3275965" y="2324735"/>
            <a:ext cx="8214995" cy="1587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sym typeface="+mn-ea"/>
              </a:rPr>
              <a:t>采血及样品处理环节</a:t>
            </a:r>
            <a:endParaRPr lang="en-US" sz="5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sym typeface="+mn-ea"/>
              </a:rPr>
              <a:t>防错与防混淆改进研讨</a:t>
            </a:r>
            <a:endParaRPr lang="zh-CN" altLang="en-US" sz="5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文本框 8"/>
          <p:cNvSpPr txBox="1"/>
          <p:nvPr userDrawn="1">
            <p:custDataLst>
              <p:tags r:id="rId2"/>
            </p:custDataLst>
          </p:nvPr>
        </p:nvSpPr>
        <p:spPr>
          <a:xfrm>
            <a:off x="4285615" y="450596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     </a:t>
            </a: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cs typeface="微软雅黑" charset="-122"/>
              </a:rPr>
              <a:t>部门：实验技术部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+mn-ea"/>
              </a:rPr>
              <a:t>         2026年6月16日（周二）</a:t>
            </a: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文本占位符 4"/>
          <p:cNvSpPr txBox="1">
            <a:spLocks noGrp="1"/>
          </p:cNvSpPr>
          <p:nvPr>
            <p:ph type="body" sz="quarter" idx="10"/>
          </p:nvPr>
        </p:nvSpPr>
        <p:spPr>
          <a:xfrm>
            <a:off x="4805363" y="5613400"/>
            <a:ext cx="5145087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di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0" normalizeH="0" baseline="0">
                <a:ln>
                  <a:noFill/>
                </a:ln>
                <a:solidFill>
                  <a:srgbClr val="007BC6"/>
                </a:solidFill>
                <a:effectLst/>
                <a:uLnTx/>
                <a:uFillTx/>
                <a:latin typeface="微软雅黑" charset="-122"/>
                <a:ea typeface="微软雅黑" charset="-122"/>
              </a:defRPr>
            </a:lvl1pPr>
          </a:lstStyle>
          <a:p>
            <a:pPr lvl="0"/>
            <a:r>
              <a:rPr lang="zh-CN" altLang="en-US" noProof="0" dirty="0"/>
              <a:t>上海益诺思生物技术股份有限公司</a:t>
            </a:r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8"/>
                </a:solidFill>
                <a:latin typeface="微软雅黑" charset="0"/>
                <a:ea typeface="微软雅黑" charset="0"/>
                <a:cs typeface="微软雅黑" charset="0"/>
              </a:rPr>
              <a:t>01  现状 · STATUS QUO</a:t>
            </a:r>
            <a:endParaRPr lang="en-US" sz="1200" b="1" kern="0" spc="200" dirty="0">
              <a:solidFill>
                <a:srgbClr val="2E6FB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mbria" pitchFamily="34" charset="-120"/>
              </a:rPr>
              <a:t>标签是纯文字，核对全靠人眼一行行读</a:t>
            </a:r>
            <a:endParaRPr lang="en-US" sz="3000" b="1" dirty="0">
              <a:solidFill>
                <a:srgbClr val="143A6B"/>
              </a:solidFill>
              <a:latin typeface="微软雅黑" charset="0"/>
              <a:ea typeface="微软雅黑" charset="0"/>
              <a:cs typeface="Cambria" pitchFamily="34" charset="-120"/>
            </a:endParaRPr>
          </a:p>
        </p:txBody>
      </p:sp>
      <p:pic>
        <p:nvPicPr>
          <p:cNvPr id="4" name="Image 0" descr="/home/claude/label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1600200"/>
            <a:ext cx="4663440" cy="3438144"/>
          </a:xfrm>
          <a:prstGeom prst="rect">
            <a:avLst/>
          </a:prstGeom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51206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00" i="1" dirty="0">
                <a:solidFill>
                  <a:srgbClr val="5A6B7B"/>
                </a:solidFill>
                <a:latin typeface="微软雅黑" charset="0"/>
                <a:ea typeface="微软雅黑" charset="0"/>
                <a:cs typeface="Calibri" pitchFamily="34" charset="-120"/>
              </a:rPr>
              <a:t>案例标签</a:t>
            </a:r>
            <a:endParaRPr lang="zh-CN" altLang="en-US" sz="1100" i="1" dirty="0">
              <a:solidFill>
                <a:srgbClr val="5A6B7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77840" y="160020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一支管子 = 一张人工制作的文字标签</a:t>
            </a:r>
            <a:endParaRPr lang="en-US" sz="16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577840" y="214884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2148840"/>
            <a:ext cx="1298448" cy="8686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技术员
</a:t>
            </a:r>
            <a:r>
              <a:rPr lang="en-US" sz="950" dirty="0">
                <a:solidFill>
                  <a:srgbClr val="5A6B7B"/>
                </a:solidFill>
                <a:latin typeface="微软雅黑" charset="0"/>
                <a:ea typeface="微软雅黑" charset="0"/>
                <a:cs typeface="微软雅黑" charset="0"/>
              </a:rPr>
              <a:t>手工做电子版</a:t>
            </a:r>
            <a:endParaRPr lang="en-US" sz="12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450592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14032" y="214884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14032" y="2148840"/>
            <a:ext cx="1298448" cy="8686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打印机
</a:t>
            </a:r>
            <a:r>
              <a:rPr lang="en-US" sz="950" dirty="0">
                <a:solidFill>
                  <a:srgbClr val="5A6B7B"/>
                </a:solidFill>
                <a:latin typeface="微软雅黑" charset="0"/>
                <a:ea typeface="微软雅黑" charset="0"/>
                <a:cs typeface="微软雅黑" charset="0"/>
              </a:rPr>
              <a:t>逐张打印</a:t>
            </a:r>
            <a:endParaRPr lang="en-US" sz="12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2450592"/>
            <a:ext cx="237744" cy="2377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650224" y="214884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650224" y="2148840"/>
            <a:ext cx="1298448" cy="8686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zh-CN" altLang="en-US" sz="12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试验前</a:t>
            </a:r>
            <a:r>
              <a:rPr lang="en-US" sz="12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
</a:t>
            </a:r>
            <a:r>
              <a:rPr lang="en-US" sz="950" dirty="0">
                <a:solidFill>
                  <a:srgbClr val="5A6B7B"/>
                </a:solidFill>
                <a:latin typeface="微软雅黑" charset="0"/>
                <a:ea typeface="微软雅黑" charset="0"/>
                <a:cs typeface="微软雅黑" charset="0"/>
              </a:rPr>
              <a:t>一管一管贴</a:t>
            </a:r>
            <a:endParaRPr lang="en-US" sz="12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2450592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0186416" y="2148840"/>
            <a:ext cx="1298448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0186416" y="2148840"/>
            <a:ext cx="1298448" cy="8686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各环节
</a:t>
            </a:r>
            <a:r>
              <a:rPr lang="en-US" sz="950" dirty="0">
                <a:solidFill>
                  <a:srgbClr val="5A6B7B"/>
                </a:solidFill>
                <a:latin typeface="微软雅黑" charset="0"/>
                <a:ea typeface="微软雅黑" charset="0"/>
                <a:cs typeface="微软雅黑" charset="0"/>
              </a:rPr>
              <a:t>肉眼读标核对</a:t>
            </a:r>
            <a:endParaRPr lang="en-US" sz="12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577840" y="333756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每核对一管，至少要逐字比对三段信息：</a:t>
            </a:r>
            <a:endParaRPr lang="en-US" sz="1300" b="1" dirty="0">
              <a:solidFill>
                <a:srgbClr val="1E2A38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577840" y="3767328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715000" y="376732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微软雅黑" charset="0"/>
                <a:ea typeface="微软雅黑" charset="0"/>
                <a:cs typeface="微软雅黑" charset="0"/>
              </a:rPr>
              <a:t>供试品 / 项目号</a:t>
            </a:r>
            <a:endParaRPr lang="en-US" sz="1200" dirty="0">
              <a:solidFill>
                <a:srgbClr val="5A6B7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321040" y="37673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ourier New" panose="02070409020205090404" pitchFamily="34" charset="-120"/>
              </a:rPr>
              <a:t>SN26007PK02</a:t>
            </a:r>
            <a:endParaRPr lang="en-US" sz="1300" b="1" dirty="0">
              <a:solidFill>
                <a:srgbClr val="143A6B"/>
              </a:solidFill>
              <a:latin typeface="微软雅黑" charset="0"/>
              <a:ea typeface="微软雅黑" charset="0"/>
              <a:cs typeface="Courier New" panose="02070409020205090404" pitchFamily="34" charset="-12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5577840" y="4334256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15000" y="4334256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微软雅黑" charset="0"/>
                <a:ea typeface="微软雅黑" charset="0"/>
                <a:cs typeface="微软雅黑" charset="0"/>
              </a:rPr>
              <a:t>动物号 + 时间点</a:t>
            </a:r>
            <a:endParaRPr lang="en-US" sz="1200" dirty="0">
              <a:solidFill>
                <a:srgbClr val="5A6B7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321040" y="43342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312-11-PK（D1-96h）</a:t>
            </a:r>
            <a:endParaRPr lang="en-US" sz="13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577840" y="4901184"/>
            <a:ext cx="60533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715000" y="4901184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微软雅黑" charset="0"/>
                <a:ea typeface="微软雅黑" charset="0"/>
                <a:cs typeface="Calibri" pitchFamily="34" charset="-120"/>
              </a:rPr>
              <a:t>采集日期</a:t>
            </a:r>
            <a:endParaRPr lang="en-US" sz="1200" dirty="0">
              <a:solidFill>
                <a:srgbClr val="5A6B7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321040" y="490118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ourier New" panose="02070409020205090404" pitchFamily="34" charset="-120"/>
              </a:rPr>
              <a:t>2026.06.09</a:t>
            </a:r>
            <a:endParaRPr lang="en-US" sz="1300" b="1" dirty="0">
              <a:solidFill>
                <a:srgbClr val="143A6B"/>
              </a:solidFill>
              <a:latin typeface="微软雅黑" charset="0"/>
              <a:ea typeface="微软雅黑" charset="0"/>
              <a:cs typeface="Courier New" panose="02070409020205090404" pitchFamily="34" charset="-12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5577840" y="55321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D9534F"/>
                </a:solidFill>
                <a:latin typeface="微软雅黑" charset="0"/>
                <a:ea typeface="微软雅黑" charset="0"/>
                <a:cs typeface="微软雅黑" charset="0"/>
              </a:rPr>
              <a:t>标签上没有任何条码 —— 机器无法识别，只能靠人读。</a:t>
            </a:r>
            <a:endParaRPr lang="en-US" sz="1250" b="1" i="1" dirty="0">
              <a:solidFill>
                <a:srgbClr val="D9534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8"/>
                </a:solidFill>
                <a:latin typeface="微软雅黑" charset="0"/>
                <a:ea typeface="微软雅黑" charset="0"/>
                <a:cs typeface="微软雅黑" charset="0"/>
              </a:rPr>
              <a:t>02  症结 · ROOT CAUSE</a:t>
            </a:r>
            <a:endParaRPr lang="en-US" sz="1200" b="1" kern="0" spc="200" dirty="0">
              <a:solidFill>
                <a:srgbClr val="2E6FB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人</a:t>
            </a:r>
            <a:r>
              <a:rPr lang="zh-CN" alt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工</a:t>
            </a:r>
            <a:r>
              <a:rPr 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核对多字段文字，</a:t>
            </a:r>
            <a:r>
              <a:rPr lang="zh-CN" alt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难免</a:t>
            </a:r>
            <a:r>
              <a:rPr 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会漏 （</a:t>
            </a:r>
            <a:r>
              <a:rPr lang="zh-CN" alt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尤其在量如此大的情况下</a:t>
            </a:r>
            <a:r>
              <a:rPr 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en-US" sz="30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BEBEA"/>
          </a:solidFill>
          <a:ln w="12700">
            <a:solidFill>
              <a:srgbClr val="F0C7C5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C7C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214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93392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只核对了部分信息</a:t>
            </a:r>
            <a:endParaRPr lang="en-US" sz="1500" b="1" dirty="0">
              <a:solidFill>
                <a:srgbClr val="143A6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4855" y="2788920"/>
            <a:ext cx="318706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动物号</a:t>
            </a:r>
            <a:r>
              <a:rPr lang="zh-CN" alt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后</a:t>
            </a: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两位对上就拿了，没把</a:t>
            </a:r>
            <a:r>
              <a:rPr lang="zh-CN" alt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前面组别</a:t>
            </a: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看全</a:t>
            </a:r>
            <a:endParaRPr lang="en-US" sz="1250" dirty="0">
              <a:latin typeface="微软雅黑" charset="0"/>
              <a:ea typeface="微软雅黑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70832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BEBEA"/>
          </a:solidFill>
          <a:ln w="12700">
            <a:solidFill>
              <a:srgbClr val="F0C7C5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196596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C7C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12140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993392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漏看了时间点</a:t>
            </a:r>
            <a:endParaRPr lang="en-US" sz="1500" b="1" dirty="0">
              <a:solidFill>
                <a:srgbClr val="143A6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09135" y="2788920"/>
            <a:ext cx="32448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动物号对了，却把 D1 和 D96</a:t>
            </a:r>
            <a:r>
              <a:rPr lang="zh-CN" alt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（首末次）</a:t>
            </a: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 拿混；</a:t>
            </a:r>
            <a:endParaRPr lang="en-US" sz="1250" dirty="0">
              <a:solidFill>
                <a:srgbClr val="1E2A38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zh-CN" altLang="en-US" sz="1250" dirty="0">
                <a:latin typeface="微软雅黑" charset="0"/>
                <a:ea typeface="微软雅黑" charset="0"/>
                <a:cs typeface="微软雅黑" charset="0"/>
              </a:rPr>
              <a:t>或是动物号对了</a:t>
            </a:r>
            <a:r>
              <a:rPr lang="en-US" altLang="zh-CN" sz="1250" dirty="0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1250" dirty="0">
                <a:latin typeface="微软雅黑" charset="0"/>
                <a:ea typeface="微软雅黑" charset="0"/>
                <a:cs typeface="微软雅黑" charset="0"/>
              </a:rPr>
              <a:t>时间点错了</a:t>
            </a:r>
            <a:endParaRPr lang="zh-CN" altLang="en-US" sz="125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BEBEA"/>
          </a:solidFill>
          <a:ln w="12700">
            <a:solidFill>
              <a:srgbClr val="F0C7C5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96596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C7C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12140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0304" y="1993392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整支管子拿错 / 拿混</a:t>
            </a:r>
            <a:endParaRPr lang="en-US" sz="15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67344" y="27889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快速操作时大脑「抓重点」，一眼带过</a:t>
            </a:r>
            <a:endParaRPr lang="en-US" sz="1250" dirty="0">
              <a:solidFill>
                <a:srgbClr val="1E2A38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43A6B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15968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406908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症结：把「核对」这个动作压在了人身上。</a:t>
            </a:r>
            <a:endParaRPr lang="en-US" sz="1800" dirty="0"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FE0F2"/>
                </a:solidFill>
                <a:latin typeface="微软雅黑" charset="0"/>
                <a:ea typeface="微软雅黑" charset="0"/>
                <a:cs typeface="微软雅黑" charset="0"/>
              </a:rPr>
              <a:t>人工肉眼比对多字段文字本身就有固定出错率 —— 样本量越大，绝对错误数越多。靠「更仔细」「再加一道人工复核」来堵，复核的人同样会漏，堆人力的边际效益很快见顶。</a:t>
            </a:r>
            <a:endParaRPr lang="en-US" sz="18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FB8"/>
                </a:solidFill>
                <a:latin typeface="微软雅黑" charset="0"/>
                <a:ea typeface="微软雅黑" charset="0"/>
                <a:cs typeface="微软雅黑" charset="0"/>
              </a:rPr>
              <a:t>→ 真正的出路：把核对从「人读文字」交给「机器比码」。人只管贴、管操作，判断对错交给机器。</a:t>
            </a:r>
            <a:endParaRPr lang="en-US" sz="1400" b="1" dirty="0">
              <a:solidFill>
                <a:srgbClr val="2E6FB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8"/>
                </a:solidFill>
                <a:latin typeface="微软雅黑" charset="0"/>
                <a:ea typeface="微软雅黑" charset="0"/>
                <a:cs typeface="微软雅黑" charset="0"/>
              </a:rPr>
              <a:t>03  后果 · WHY NOW</a:t>
            </a:r>
            <a:endParaRPr lang="en-US" sz="1200" b="1" kern="0" spc="200" dirty="0">
              <a:solidFill>
                <a:srgbClr val="2E6FB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mbria" pitchFamily="34" charset="-120"/>
              </a:rPr>
              <a:t>现状是「事后补救」：错误要拖到分析端才暴露</a:t>
            </a:r>
            <a:endParaRPr lang="en-US" sz="3000" b="1" dirty="0">
              <a:solidFill>
                <a:srgbClr val="143A6B"/>
              </a:solidFill>
              <a:latin typeface="微软雅黑" charset="0"/>
              <a:ea typeface="微软雅黑" charset="0"/>
              <a:cs typeface="Cambria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143000" cy="1143000"/>
          </a:xfrm>
          <a:prstGeom prst="ellipse">
            <a:avLst/>
          </a:prstGeom>
          <a:solidFill>
            <a:srgbClr val="EAF1FA"/>
          </a:solidFill>
          <a:ln w="19050">
            <a:solidFill>
              <a:srgbClr val="CFE0F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112264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01752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采血 / 处理</a:t>
            </a:r>
            <a:endParaRPr lang="en-US" sz="14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5760" y="338328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微软雅黑" charset="0"/>
                <a:ea typeface="微软雅黑" charset="0"/>
                <a:cs typeface="Calibri" pitchFamily="34" charset="-120"/>
              </a:rPr>
              <a:t>错误在此刻</a:t>
            </a:r>
            <a:endParaRPr lang="en-US" sz="1150" dirty="0">
              <a:latin typeface="微软雅黑" charset="0"/>
              <a:ea typeface="微软雅黑" charset="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微软雅黑" charset="0"/>
                <a:ea typeface="微软雅黑" charset="0"/>
                <a:cs typeface="Calibri" pitchFamily="34" charset="-120"/>
              </a:rPr>
              <a:t>已经发生</a:t>
            </a:r>
            <a:endParaRPr lang="en-US" sz="1150" dirty="0">
              <a:latin typeface="微软雅黑" charset="0"/>
              <a:ea typeface="微软雅黑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212848"/>
            <a:ext cx="411480" cy="411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45152" y="1783080"/>
            <a:ext cx="1143000" cy="1143000"/>
          </a:xfrm>
          <a:prstGeom prst="ellipse">
            <a:avLst/>
          </a:prstGeom>
          <a:solidFill>
            <a:srgbClr val="EAF1FA"/>
          </a:solidFill>
          <a:ln w="19050">
            <a:solidFill>
              <a:srgbClr val="CFE0F2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2112264"/>
            <a:ext cx="493776" cy="4937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87952" y="301752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全程无拦截</a:t>
            </a:r>
            <a:endParaRPr lang="en-US" sz="1400" b="1" dirty="0">
              <a:solidFill>
                <a:srgbClr val="143A6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187952" y="338328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微软雅黑" charset="0"/>
                <a:ea typeface="微软雅黑" charset="0"/>
                <a:cs typeface="Calibri" pitchFamily="34" charset="-120"/>
              </a:rPr>
              <a:t>没有任何环节</a:t>
            </a:r>
            <a:endParaRPr lang="en-US" sz="1150" dirty="0">
              <a:latin typeface="微软雅黑" charset="0"/>
              <a:ea typeface="微软雅黑" charset="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微软雅黑" charset="0"/>
                <a:ea typeface="微软雅黑" charset="0"/>
                <a:cs typeface="Calibri" pitchFamily="34" charset="-120"/>
              </a:rPr>
              <a:t>能当场报警</a:t>
            </a:r>
            <a:endParaRPr lang="en-US" sz="1150" dirty="0">
              <a:latin typeface="微软雅黑" charset="0"/>
              <a:ea typeface="微软雅黑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2212848"/>
            <a:ext cx="411480" cy="4114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467344" y="1783080"/>
            <a:ext cx="1143000" cy="1143000"/>
          </a:xfrm>
          <a:prstGeom prst="ellipse">
            <a:avLst/>
          </a:prstGeom>
          <a:solidFill>
            <a:srgbClr val="FBEBEA"/>
          </a:solidFill>
          <a:ln w="19050">
            <a:solidFill>
              <a:srgbClr val="E0A6A4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2112264"/>
            <a:ext cx="493776" cy="4937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10144" y="301752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分析端</a:t>
            </a:r>
            <a:endParaRPr lang="en-US" sz="1400" b="1" dirty="0">
              <a:solidFill>
                <a:srgbClr val="143A6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8010144" y="338328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9534F"/>
                </a:solidFill>
                <a:latin typeface="微软雅黑" charset="0"/>
                <a:ea typeface="微软雅黑" charset="0"/>
                <a:cs typeface="Calibri" pitchFamily="34" charset="-120"/>
              </a:rPr>
              <a:t>数据明显异常</a:t>
            </a:r>
            <a:endParaRPr lang="en-US" sz="1150" dirty="0">
              <a:latin typeface="微软雅黑" charset="0"/>
              <a:ea typeface="微软雅黑" charset="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D9534F"/>
                </a:solidFill>
                <a:latin typeface="微软雅黑" charset="0"/>
                <a:ea typeface="微软雅黑" charset="0"/>
                <a:cs typeface="Calibri" pitchFamily="34" charset="-120"/>
              </a:rPr>
              <a:t>才回头找问题</a:t>
            </a:r>
            <a:endParaRPr lang="en-US" sz="1150" dirty="0">
              <a:latin typeface="微软雅黑" charset="0"/>
              <a:ea typeface="微软雅黑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等到分析端才发现，意味着三重代价：</a:t>
            </a:r>
            <a:endParaRPr lang="en-US" sz="1400" b="1" dirty="0">
              <a:solidFill>
                <a:srgbClr val="1E2A38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548640" y="4617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BEBEA"/>
          </a:solidFill>
          <a:ln w="12700">
            <a:solidFill>
              <a:srgbClr val="F0C7C5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804672" y="48006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534F"/>
                </a:solidFill>
                <a:latin typeface="微软雅黑" charset="0"/>
                <a:ea typeface="微软雅黑" charset="0"/>
                <a:cs typeface="Cambria" pitchFamily="34" charset="-120"/>
              </a:rPr>
              <a:t>发现得晚</a:t>
            </a:r>
            <a:endParaRPr lang="en-US" sz="1600" b="1" dirty="0">
              <a:solidFill>
                <a:srgbClr val="D9534F"/>
              </a:solidFill>
              <a:latin typeface="微软雅黑" charset="0"/>
              <a:ea typeface="微软雅黑" charset="0"/>
              <a:cs typeface="Cambria" pitchFamily="34" charset="-12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804672" y="52578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中间所有工时、试剂、仪器机时全部白做</a:t>
            </a:r>
            <a:endParaRPr lang="en-US" sz="1250" dirty="0">
              <a:solidFill>
                <a:srgbClr val="1E2A38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4370832" y="4617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BEBEA"/>
          </a:solidFill>
          <a:ln w="12700">
            <a:solidFill>
              <a:srgbClr val="F0C7C5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4626864" y="48006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534F"/>
                </a:solidFill>
                <a:latin typeface="微软雅黑" charset="0"/>
                <a:ea typeface="微软雅黑" charset="0"/>
                <a:cs typeface="微软雅黑" charset="0"/>
              </a:rPr>
              <a:t>回溯难 / 救不回</a:t>
            </a:r>
            <a:endParaRPr lang="en-US" sz="1600" b="1" dirty="0">
              <a:solidFill>
                <a:srgbClr val="D9534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626864" y="52578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样本可能已消耗、动物无法补采，数据点直接报废</a:t>
            </a:r>
            <a:endParaRPr lang="en-US" sz="1250" dirty="0">
              <a:solidFill>
                <a:srgbClr val="1E2A38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8193024" y="461772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43A6B"/>
          </a:solidFill>
          <a:ln w="12700">
            <a:solidFill>
              <a:srgbClr val="143A6B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8449056" y="480060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mbria" pitchFamily="34" charset="-120"/>
              </a:rPr>
              <a:t>最坏：发现不了（</a:t>
            </a:r>
            <a:r>
              <a:rPr lang="zh-CN" altLang="en-US" sz="16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mbria" pitchFamily="34" charset="-120"/>
              </a:rPr>
              <a:t>当前常见</a:t>
            </a:r>
            <a:r>
              <a:rPr lang="en-US" sz="16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mbria" pitchFamily="34" charset="-120"/>
              </a:rPr>
              <a:t>）</a:t>
            </a:r>
            <a:endParaRPr lang="en-US" sz="1600" b="1" dirty="0">
              <a:solidFill>
                <a:srgbClr val="FFFFFF"/>
              </a:solidFill>
              <a:latin typeface="微软雅黑" charset="0"/>
              <a:ea typeface="微软雅黑" charset="0"/>
              <a:cs typeface="Cambria" pitchFamily="34" charset="-12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8449056" y="52578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0F2"/>
                </a:solidFill>
                <a:latin typeface="微软雅黑" charset="0"/>
                <a:ea typeface="微软雅黑" charset="0"/>
                <a:cs typeface="Calibri" pitchFamily="34" charset="-120"/>
              </a:rPr>
              <a:t>错得不离谱（如相邻时间点拿混）就可能漏检，带着错误数据交付</a:t>
            </a:r>
            <a:endParaRPr lang="en-US" sz="1250" dirty="0">
              <a:solidFill>
                <a:srgbClr val="CFE0F2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D9534F"/>
                </a:solidFill>
                <a:latin typeface="微软雅黑" charset="0"/>
                <a:ea typeface="微软雅黑" charset="0"/>
                <a:cs typeface="微软雅黑" charset="0"/>
              </a:rPr>
              <a:t>对 CRO 而言，最致命的不是「出错」，而是错误可能混进最终报告而不被发现 —— 直接动摇数据可靠性与客户信赖。</a:t>
            </a:r>
            <a:endParaRPr lang="en-US" sz="1250" b="1" i="1" dirty="0">
              <a:solidFill>
                <a:srgbClr val="D9534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8"/>
                </a:solidFill>
                <a:latin typeface="微软雅黑" charset="0"/>
                <a:ea typeface="微软雅黑" charset="0"/>
                <a:cs typeface="微软雅黑" charset="0"/>
              </a:rPr>
              <a:t>04  方案 · SOLUTION</a:t>
            </a:r>
            <a:endParaRPr lang="en-US" sz="1200" b="1" kern="0" spc="200" dirty="0">
              <a:solidFill>
                <a:srgbClr val="2E6FB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标签条码化 + 扫码核对 + 自动录入：在当下拦截</a:t>
            </a:r>
            <a:endParaRPr lang="en-US" sz="30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02536"/>
            <a:ext cx="868680" cy="86868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CFE0F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31136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65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① 标签制作端</a:t>
            </a:r>
            <a:endParaRPr lang="en-US" sz="16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26280" y="1984248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2E6FB8"/>
          </a:solidFill>
        </p:spPr>
      </p:sp>
      <p:sp>
        <p:nvSpPr>
          <p:cNvPr id="9" name="Text 6"/>
          <p:cNvSpPr/>
          <p:nvPr/>
        </p:nvSpPr>
        <p:spPr>
          <a:xfrm>
            <a:off x="4526280" y="1984248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libri" pitchFamily="34" charset="-120"/>
              </a:rPr>
              <a:t>源头防错</a:t>
            </a:r>
            <a:endParaRPr lang="en-US" sz="1100" b="1" dirty="0">
              <a:solidFill>
                <a:srgbClr val="FFFFFF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874520" y="2441448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系统按项目信息自动生成、带二维码/条码，编码不靠手敲</a:t>
            </a:r>
            <a:endParaRPr lang="en-US" sz="1250" dirty="0">
              <a:solidFill>
                <a:srgbClr val="1E2A3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002536"/>
            <a:ext cx="868680" cy="86868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CFE0F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3113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965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② 采血贴标端</a:t>
            </a:r>
            <a:endParaRPr lang="en-US" sz="16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0241280" y="1984248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2E6FB8"/>
          </a:solidFill>
        </p:spPr>
      </p:sp>
      <p:sp>
        <p:nvSpPr>
          <p:cNvPr id="16" name="Text 12"/>
          <p:cNvSpPr/>
          <p:nvPr/>
        </p:nvSpPr>
        <p:spPr>
          <a:xfrm>
            <a:off x="10241280" y="1984248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libri" pitchFamily="34" charset="-120"/>
              </a:rPr>
              <a:t>贴即绑定</a:t>
            </a:r>
            <a:endParaRPr lang="en-US" sz="1100" b="1" dirty="0">
              <a:solidFill>
                <a:srgbClr val="FFFFFF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589520" y="2441448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贴标时扫码确认「这个码 = 这只动物」，当场绑定</a:t>
            </a:r>
            <a:endParaRPr lang="en-US" sz="1250" dirty="0">
              <a:solidFill>
                <a:srgbClr val="1E2A3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48640" y="3685032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EAF1FA"/>
          </a:solidFill>
          <a:ln w="22225">
            <a:solidFill>
              <a:srgbClr val="2E6FB8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3995928"/>
            <a:ext cx="868680" cy="86868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CFE0F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22452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74520" y="395935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③ 操作核对端</a:t>
            </a:r>
            <a:endParaRPr lang="en-US" sz="16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526280" y="39776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D9534F"/>
          </a:solidFill>
        </p:spPr>
      </p:sp>
      <p:sp>
        <p:nvSpPr>
          <p:cNvPr id="23" name="Text 18"/>
          <p:cNvSpPr/>
          <p:nvPr/>
        </p:nvSpPr>
        <p:spPr>
          <a:xfrm>
            <a:off x="4526280" y="397764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libri" pitchFamily="34" charset="-120"/>
              </a:rPr>
              <a:t>重灾区</a:t>
            </a:r>
            <a:endParaRPr lang="en-US" sz="1100" b="1" dirty="0">
              <a:solidFill>
                <a:srgbClr val="FFFFFF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874520" y="443484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操作前扫码，系统全字段比对，对了才放行、错了报警</a:t>
            </a:r>
            <a:endParaRPr lang="en-US" sz="1250" dirty="0">
              <a:solidFill>
                <a:srgbClr val="1E2A38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263640" y="3685032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37960" y="3995928"/>
            <a:ext cx="868680" cy="86868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CFE0F2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24528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89520" y="395935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微软雅黑" charset="0"/>
              </a:rPr>
              <a:t>④ 录入分析端</a:t>
            </a:r>
            <a:endParaRPr lang="en-US" sz="1600" b="1" dirty="0">
              <a:solidFill>
                <a:srgbClr val="143A6B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10241280" y="397764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2E6FB8"/>
          </a:solidFill>
        </p:spPr>
      </p:sp>
      <p:sp>
        <p:nvSpPr>
          <p:cNvPr id="30" name="Text 24"/>
          <p:cNvSpPr/>
          <p:nvPr/>
        </p:nvSpPr>
        <p:spPr>
          <a:xfrm>
            <a:off x="10241280" y="3977640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libri" pitchFamily="34" charset="-120"/>
              </a:rPr>
              <a:t>自动留痕</a:t>
            </a:r>
            <a:endParaRPr lang="en-US" sz="1100" b="1" dirty="0">
              <a:solidFill>
                <a:srgbClr val="FFFFFF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7589520" y="443484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扫码自动录入，替代手敲 Excel，数据全程可追溯</a:t>
            </a:r>
            <a:endParaRPr lang="en-US" sz="1250" dirty="0">
              <a:solidFill>
                <a:srgbClr val="1E2A3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B8"/>
                </a:solidFill>
                <a:latin typeface="微软雅黑" charset="0"/>
                <a:ea typeface="微软雅黑" charset="0"/>
                <a:cs typeface="微软雅黑" charset="0"/>
              </a:rPr>
              <a:t>05  可行性 · FEASIBILITY</a:t>
            </a:r>
            <a:endParaRPr lang="en-US" sz="1200" b="1" kern="0" spc="200" dirty="0">
              <a:solidFill>
                <a:srgbClr val="2E6FB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mbria" pitchFamily="34" charset="-120"/>
              </a:rPr>
              <a:t>不是从零搞新流程，是把成熟模式复制过来</a:t>
            </a:r>
            <a:endParaRPr lang="en-US" sz="3000" b="1" dirty="0">
              <a:solidFill>
                <a:srgbClr val="143A6B"/>
              </a:solidFill>
              <a:latin typeface="微软雅黑" charset="0"/>
              <a:ea typeface="微软雅黑" charset="0"/>
              <a:cs typeface="Cambria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E7F5EF"/>
          </a:solidFill>
          <a:ln w="15875">
            <a:solidFill>
              <a:srgbClr val="BFE3D3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FE3D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945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mbria" pitchFamily="34" charset="-120"/>
              </a:rPr>
              <a:t>称药环节早就在扫码</a:t>
            </a:r>
            <a:endParaRPr lang="en-US" sz="2000" b="1" dirty="0">
              <a:solidFill>
                <a:srgbClr val="143A6B"/>
              </a:solidFill>
              <a:latin typeface="微软雅黑" charset="0"/>
              <a:ea typeface="微软雅黑" charset="0"/>
              <a:cs typeface="Cambria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4892040" cy="2509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戴手套能扫、现场环境能扫 —— 技术可行性和操作习惯都已被日常工作验证。</a:t>
            </a:r>
            <a:endParaRPr lang="en-US" sz="1450" dirty="0"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2200"/>
              </a:lnSpc>
              <a:buNone/>
            </a:pPr>
            <a:endParaRPr lang="en-US" sz="1450" dirty="0"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F9D78"/>
                </a:solidFill>
                <a:latin typeface="微软雅黑" charset="0"/>
                <a:ea typeface="微软雅黑" charset="0"/>
                <a:cs typeface="微软雅黑" charset="0"/>
              </a:rPr>
              <a:t>采血核对要做的，只是把这套成熟的扫码模式，从称药复制到这里。</a:t>
            </a:r>
            <a:endParaRPr lang="en-US" sz="1450" b="1" dirty="0">
              <a:solidFill>
                <a:srgbClr val="1F9D78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zh-CN" altLang="en-US" sz="145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两种方式</a:t>
            </a:r>
            <a:r>
              <a:rPr lang="en-US" altLang="zh-CN" sz="1450" dirty="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 sz="1450" dirty="0"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zh-CN" sz="1450" dirty="0"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1450" dirty="0">
                <a:latin typeface="微软雅黑" charset="0"/>
                <a:ea typeface="微软雅黑" charset="0"/>
                <a:cs typeface="微软雅黑" charset="0"/>
              </a:rPr>
              <a:t>在现有的</a:t>
            </a:r>
            <a:r>
              <a:rPr lang="en-US" altLang="zh-CN" sz="1450" dirty="0">
                <a:latin typeface="微软雅黑" charset="0"/>
                <a:ea typeface="微软雅黑" charset="0"/>
                <a:cs typeface="微软雅黑" charset="0"/>
              </a:rPr>
              <a:t>pv</a:t>
            </a:r>
            <a:r>
              <a:rPr lang="zh-CN" altLang="en-US" sz="1450" dirty="0">
                <a:latin typeface="微软雅黑" charset="0"/>
                <a:ea typeface="微软雅黑" charset="0"/>
                <a:cs typeface="微软雅黑" charset="0"/>
              </a:rPr>
              <a:t>系统上增加</a:t>
            </a:r>
            <a:r>
              <a:rPr lang="en-US" altLang="zh-CN" sz="1450" dirty="0">
                <a:latin typeface="微软雅黑" charset="0"/>
                <a:ea typeface="微软雅黑" charset="0"/>
                <a:cs typeface="微软雅黑" charset="0"/>
              </a:rPr>
              <a:t>TK</a:t>
            </a:r>
            <a:r>
              <a:rPr lang="zh-CN" altLang="en-US" sz="1450" dirty="0">
                <a:latin typeface="微软雅黑" charset="0"/>
                <a:ea typeface="微软雅黑" charset="0"/>
                <a:cs typeface="微软雅黑" charset="0"/>
              </a:rPr>
              <a:t>等采样任务</a:t>
            </a:r>
            <a:r>
              <a:rPr lang="en-US" altLang="zh-CN" sz="1450" dirty="0"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en-US" altLang="zh-CN" sz="1450" dirty="0"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450" dirty="0">
                <a:latin typeface="微软雅黑" charset="0"/>
                <a:ea typeface="微软雅黑" charset="0"/>
                <a:cs typeface="微软雅黑" charset="0"/>
              </a:rPr>
              <a:t>采样任务开发新系统</a:t>
            </a:r>
            <a:r>
              <a:rPr lang="en-US" altLang="zh-CN" sz="1450" dirty="0"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sz="145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766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48256"/>
            <a:ext cx="658368" cy="658368"/>
          </a:xfrm>
          <a:prstGeom prst="ellipse">
            <a:avLst/>
          </a:prstGeom>
          <a:solidFill>
            <a:srgbClr val="EAF1FA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037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3852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管子尺寸够贴码（</a:t>
            </a:r>
            <a:r>
              <a:rPr lang="zh-CN" alt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临检标签</a:t>
            </a:r>
            <a:r>
              <a:rPr lang="zh-CN" alt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已可行</a:t>
            </a:r>
            <a:r>
              <a:rPr 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）</a:t>
            </a:r>
            <a:endParaRPr lang="en-US" sz="1500" b="1" dirty="0">
              <a:solidFill>
                <a:srgbClr val="143A6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406640" y="2340864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现有管子完全容得下二维码/条码，无需更换耗材规格</a:t>
            </a:r>
            <a:endParaRPr lang="en-US" sz="1200" dirty="0">
              <a:solidFill>
                <a:srgbClr val="1E2A3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63640" y="3154680"/>
            <a:ext cx="53766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3465576"/>
            <a:ext cx="658368" cy="658368"/>
          </a:xfrm>
          <a:prstGeom prst="ellipse">
            <a:avLst/>
          </a:prstGeom>
          <a:solidFill>
            <a:srgbClr val="EAF1FA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36210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06640" y="335584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系统可定制</a:t>
            </a:r>
            <a:endParaRPr lang="en-US" sz="1500" b="1" dirty="0">
              <a:solidFill>
                <a:srgbClr val="143A6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406640" y="3758184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需求清晰即可交给公司 IT 落地，明确「要什么系统」就行</a:t>
            </a:r>
            <a:endParaRPr lang="en-US" sz="1200" dirty="0">
              <a:solidFill>
                <a:srgbClr val="1E2A38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263640" y="4572000"/>
            <a:ext cx="5376672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FE0F2"/>
            </a:solidFill>
            <a:prstDash val="solid"/>
          </a:ln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882896"/>
            <a:ext cx="658368" cy="658368"/>
          </a:xfrm>
          <a:prstGeom prst="ellipse">
            <a:avLst/>
          </a:prstGeom>
          <a:solidFill>
            <a:srgbClr val="EAF1FA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50383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77316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libri" pitchFamily="34" charset="-120"/>
              </a:rPr>
              <a:t>硬件投入有限</a:t>
            </a:r>
            <a:endParaRPr lang="en-US" sz="1500" b="1" dirty="0">
              <a:solidFill>
                <a:srgbClr val="143A6B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406640" y="5175504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微软雅黑" charset="0"/>
                <a:ea typeface="微软雅黑" charset="0"/>
                <a:cs typeface="Calibri" pitchFamily="34" charset="-120"/>
              </a:rPr>
              <a:t>标签打印机、扫码枪为主，多为成熟通用设备，成本可控</a:t>
            </a:r>
            <a:endParaRPr lang="en-US" sz="1200" dirty="0">
              <a:solidFill>
                <a:srgbClr val="1E2A38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0F2"/>
                </a:solidFill>
                <a:latin typeface="微软雅黑" charset="0"/>
                <a:ea typeface="微软雅黑" charset="0"/>
                <a:cs typeface="微软雅黑" charset="0"/>
              </a:rPr>
              <a:t>06  收益与立项建议 · VALUE &amp; PROPOSAL</a:t>
            </a:r>
            <a:endParaRPr lang="en-US" sz="1200" b="1" kern="0" spc="200" dirty="0">
              <a:solidFill>
                <a:srgbClr val="CFE0F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mbria" pitchFamily="34" charset="-120"/>
              </a:rPr>
              <a:t>把人力堵漏，变成机制防错</a:t>
            </a:r>
            <a:endParaRPr lang="en-US" sz="3000" b="1" dirty="0">
              <a:solidFill>
                <a:srgbClr val="FFFFFF"/>
              </a:solidFill>
              <a:latin typeface="微软雅黑" charset="0"/>
              <a:ea typeface="微软雅黑" charset="0"/>
              <a:cs typeface="Cambria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B477E"/>
          </a:solidFill>
          <a:ln w="12700">
            <a:solidFill>
              <a:srgbClr val="2E6F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57400"/>
            <a:ext cx="749808" cy="74980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21992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084832"/>
            <a:ext cx="23774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libri" pitchFamily="34" charset="-120"/>
              </a:rPr>
              <a:t>差错率显著下降</a:t>
            </a:r>
            <a:endParaRPr lang="en-US" sz="1500" b="1" dirty="0">
              <a:solidFill>
                <a:srgbClr val="FFFFFF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2907792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微软雅黑" charset="0"/>
                <a:ea typeface="微软雅黑" charset="0"/>
                <a:cs typeface="Calibri" pitchFamily="34" charset="-120"/>
              </a:rPr>
              <a:t>机器全字段比对，不疲劳、不抓重点、不漏字段</a:t>
            </a:r>
            <a:endParaRPr lang="en-US" sz="1200" dirty="0">
              <a:solidFill>
                <a:srgbClr val="CFE0F2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70832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B477E"/>
          </a:solidFill>
          <a:ln w="12700">
            <a:solidFill>
              <a:srgbClr val="2E6F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6864" y="2057400"/>
            <a:ext cx="749808" cy="74980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221992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084832"/>
            <a:ext cx="23774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libri" pitchFamily="34" charset="-120"/>
              </a:rPr>
              <a:t>返工工时下降</a:t>
            </a:r>
            <a:endParaRPr lang="en-US" sz="1500" b="1" dirty="0">
              <a:solidFill>
                <a:srgbClr val="FFFFFF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45152" y="2907792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微软雅黑" charset="0"/>
                <a:ea typeface="微软雅黑" charset="0"/>
                <a:cs typeface="Calibri" pitchFamily="34" charset="-120"/>
              </a:rPr>
              <a:t>错误当场拦截，不再事后回溯、不再整段数据报废</a:t>
            </a:r>
            <a:endParaRPr lang="en-US" sz="1200" dirty="0">
              <a:solidFill>
                <a:srgbClr val="CFE0F2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93024" y="178308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1B477E"/>
          </a:solidFill>
          <a:ln w="12700">
            <a:solidFill>
              <a:srgbClr val="2E6FB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49056" y="2057400"/>
            <a:ext cx="749808" cy="749808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221992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08592" y="2084832"/>
            <a:ext cx="23774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Calibri" pitchFamily="34" charset="-120"/>
              </a:rPr>
              <a:t>全程可追溯</a:t>
            </a:r>
            <a:endParaRPr lang="en-US" sz="1500" b="1" dirty="0">
              <a:solidFill>
                <a:srgbClr val="FFFFFF"/>
              </a:solidFill>
              <a:latin typeface="微软雅黑" charset="0"/>
              <a:ea typeface="微软雅黑" charset="0"/>
              <a:cs typeface="Calibri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67344" y="2907792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0F2"/>
                </a:solidFill>
                <a:latin typeface="微软雅黑" charset="0"/>
                <a:ea typeface="微软雅黑" charset="0"/>
                <a:cs typeface="微软雅黑" charset="0"/>
              </a:rPr>
              <a:t>对监管核查、客户审计都是加分项 —— 直指客户信赖</a:t>
            </a:r>
            <a:endParaRPr lang="en-US" sz="1200" dirty="0">
              <a:solidFill>
                <a:srgbClr val="CFE0F2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1109167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effectLst>
            <a:outerShdw blurRad="88900" dist="38100" dir="5400000" algn="bl" rotWithShape="0">
              <a:srgbClr val="9AAFC4">
                <a:alpha val="2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93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224528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3A6B"/>
                </a:solidFill>
                <a:latin typeface="微软雅黑" charset="0"/>
                <a:ea typeface="微软雅黑" charset="0"/>
                <a:cs typeface="Cambria" pitchFamily="34" charset="-120"/>
              </a:rPr>
              <a:t>给领导的判断：值得立项投入</a:t>
            </a:r>
            <a:endParaRPr lang="en-US" sz="1900" b="1" dirty="0">
              <a:solidFill>
                <a:srgbClr val="143A6B"/>
              </a:solidFill>
              <a:latin typeface="微软雅黑" charset="0"/>
              <a:ea typeface="微软雅黑" charset="0"/>
              <a:cs typeface="Cambria" pitchFamily="34" charset="-12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14400" y="480060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D9534F"/>
                </a:solidFill>
                <a:latin typeface="微软雅黑" charset="0"/>
                <a:ea typeface="微软雅黑" charset="0"/>
                <a:cs typeface="微软雅黑" charset="0"/>
              </a:rPr>
              <a:t>风险  </a:t>
            </a:r>
            <a:r>
              <a:rPr lang="en-US" sz="140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当前防错全靠人工肉眼，错误率不可控、事后才发现，最坏会把错误数据交付出去；</a:t>
            </a:r>
            <a:endParaRPr lang="en-US" sz="1400" dirty="0"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2E6FB8"/>
                </a:solidFill>
                <a:latin typeface="微软雅黑" charset="0"/>
                <a:ea typeface="微软雅黑" charset="0"/>
                <a:cs typeface="微软雅黑" charset="0"/>
              </a:rPr>
              <a:t>方案  </a:t>
            </a:r>
            <a:r>
              <a:rPr lang="en-US" sz="140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标签条码化 + 扫码核对 + 自动录入，把核对从人转移到机器，IT 可定制、硬件投入有限；</a:t>
            </a:r>
            <a:endParaRPr lang="en-US" sz="1400" dirty="0">
              <a:latin typeface="微软雅黑" charset="0"/>
              <a:ea typeface="微软雅黑" charset="0"/>
              <a:cs typeface="微软雅黑" charset="0"/>
            </a:endParaRPr>
          </a:p>
          <a:p>
            <a:pPr marL="0" indent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F9D78"/>
                </a:solidFill>
                <a:latin typeface="微软雅黑" charset="0"/>
                <a:ea typeface="微软雅黑" charset="0"/>
                <a:cs typeface="微软雅黑" charset="0"/>
              </a:rPr>
              <a:t>收益  </a:t>
            </a:r>
            <a:r>
              <a:rPr lang="en-US" sz="1400" dirty="0">
                <a:solidFill>
                  <a:srgbClr val="1E2A38"/>
                </a:solidFill>
                <a:latin typeface="微软雅黑" charset="0"/>
                <a:ea typeface="微软雅黑" charset="0"/>
                <a:cs typeface="微软雅黑" charset="0"/>
              </a:rPr>
              <a:t>差错率↓、返工工时↓、数据全程可追溯 —— 直接落到数据可靠性、交付质量、监管认可与客户信赖。</a:t>
            </a:r>
            <a:endParaRPr lang="en-US" sz="1400" dirty="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企业微信截图_11cc485a-b8d3-4e4b-8f70-f29fd137d18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415" y="256540"/>
            <a:ext cx="3539490" cy="62083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1180" y="4457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微软雅黑" charset="0"/>
                <a:ea typeface="微软雅黑" charset="0"/>
              </a:rPr>
              <a:t>标签样式</a:t>
            </a:r>
            <a:r>
              <a:rPr lang="en-US" altLang="zh-CN" sz="2800">
                <a:latin typeface="微软雅黑" charset="0"/>
                <a:ea typeface="微软雅黑" charset="0"/>
              </a:rPr>
              <a:t>：</a:t>
            </a:r>
            <a:endParaRPr lang="en-US" altLang="zh-CN" sz="2800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1540</Words>
  <Application>WPS 演示</Application>
  <PresentationFormat>On-screen Show (16:9)</PresentationFormat>
  <Paragraphs>175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</vt:lpstr>
      <vt:lpstr>Cambria</vt:lpstr>
      <vt:lpstr>苹方-简</vt:lpstr>
      <vt:lpstr>Cambria</vt:lpstr>
      <vt:lpstr>Cambria</vt:lpstr>
      <vt:lpstr>Calibri</vt:lpstr>
      <vt:lpstr>Calibri</vt:lpstr>
      <vt:lpstr>Calibri</vt:lpstr>
      <vt:lpstr>微软雅黑</vt:lpstr>
      <vt:lpstr>Courier New</vt:lpstr>
      <vt:lpstr>Helvetica Neue</vt:lpstr>
      <vt:lpstr>宋体</vt:lpstr>
      <vt:lpstr>汉仪书宋二KW</vt:lpstr>
      <vt:lpstr>等线</vt:lpstr>
      <vt:lpstr>汉仪中等线KW</vt:lpstr>
      <vt:lpstr>Arial Unicode MS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采血及样品处理环节防错改进研讨</dc:title>
  <dc:creator>实验技术二部</dc:creator>
  <dc:subject>PptxGenJS Presentation</dc:subject>
  <cp:lastModifiedBy>Ming__</cp:lastModifiedBy>
  <cp:revision>4</cp:revision>
  <dcterms:created xsi:type="dcterms:W3CDTF">2026-06-15T08:02:08Z</dcterms:created>
  <dcterms:modified xsi:type="dcterms:W3CDTF">2026-06-15T08:02:08Z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DA97947808632FEDD9932F6ACDE0B735_42</vt:lpwstr>
  </property>
</Properties>
</file>